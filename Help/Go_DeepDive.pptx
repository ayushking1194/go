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" Type="http://schemas.openxmlformats.org/officeDocument/2006/relationships/presProps" Target="presProps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" Type="http://schemas.openxmlformats.org/officeDocument/2006/relationships/viewProps" Target="viewProps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E6E6E6"/>
                </a:solidFill>
              </a:defRPr>
            </a:pPr>
            <a:r>
              <a:t>Deep Dive: Go (Golang) — Concepts, Patterns &amp; Quick Exercises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Comprehensive but concise: conceptual explanations, code snippets, 2-min exercises, and MCQ quizzes.</a:t>
            </a:r>
          </a:p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Dark theme, highlighted code, progressive difficulty, section summaries, and answer key included.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6E6E6"/>
                </a:solidFill>
              </a:defRPr>
            </a:pPr>
            <a:r>
              <a:t>Course Outline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1. Fundamentals &amp; Syntax</a:t>
            </a:r>
            <a:br/>
            <a:r>
              <a:t>2. Types, Memory, and Ownership</a:t>
            </a:r>
            <a:br/>
            <a:r>
              <a:t>3. Functions, Methods, and Interfaces</a:t>
            </a:r>
            <a:br/>
            <a:r>
              <a:t>4. Concurrency: Goroutines, Channels, Patterns</a:t>
            </a:r>
            <a:br/>
            <a:r>
              <a:t>5. Advanced Topics: Generics, Reflection, Unsafe, cgo</a:t>
            </a:r>
            <a:br/>
            <a:r>
              <a:t>6. Tooling: go mod, testing, profiling, race detector</a:t>
            </a:r>
            <a:br/>
            <a:r>
              <a:t>7. Web &amp; Networking, Best Practices</a:t>
            </a:r>
            <a:br/>
            <a:r>
              <a:t>8. Quizzes, Exercises &amp; Answer Key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6E6E6"/>
                </a:solidFill>
              </a:defRPr>
            </a:pPr>
            <a:r>
              <a:t>Section 1 — Fundamentals &amp; Syntax (In depth)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Package model: every file begins with `package` — controls visibility (exported identifiers start with uppercase).</a:t>
            </a:r>
          </a:p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Imports: explicit; unused imports are compile errors. Blank identifier `_` imports for side effects.</a:t>
            </a:r>
          </a:p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Build tags: //go:build and legacy // +build used to include/exclude files at build time. Place above package clause.</a:t>
            </a:r>
          </a:p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Compilation model: `go build` produces an executable; modules (go.mod) govern dependency versions.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097280"/>
            <a:ext cx="3291840" cy="5029200"/>
          </a:xfrm>
          <a:prstGeom prst="rect">
            <a:avLst/>
          </a:prstGeom>
          <a:solidFill>
            <a:srgbClr val="1E2228"/>
          </a:solidFill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8CDCFF"/>
                </a:solidFill>
                <a:latin typeface="Courier New"/>
              </a:defRPr>
            </a:pPr>
            <a:r>
              <a:t>//go:build prod</a:t>
            </a:r>
          </a:p>
          <a:p>
            <a:pPr>
              <a:defRPr sz="1200">
                <a:solidFill>
                  <a:srgbClr val="8CDCFF"/>
                </a:solidFill>
                <a:latin typeface="Courier New"/>
              </a:defRPr>
            </a:pPr>
            <a:r>
              <a:t>package main</a:t>
            </a:r>
          </a:p>
          <a:p>
            <a:pPr>
              <a:defRPr sz="1200">
                <a:solidFill>
                  <a:srgbClr val="8CDCFF"/>
                </a:solidFill>
                <a:latin typeface="Courier New"/>
              </a:defRPr>
            </a:pPr>
          </a:p>
          <a:p>
            <a:pPr>
              <a:defRPr sz="1200">
                <a:solidFill>
                  <a:srgbClr val="8CDCFF"/>
                </a:solidFill>
                <a:latin typeface="Courier New"/>
              </a:defRPr>
            </a:pPr>
            <a:r>
              <a:t>import _ "net/http/pprof"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B478FF"/>
                </a:solidFill>
              </a:defRPr>
            </a:pPr>
            <a:r>
              <a:t>Key idea: Go enforces small, explicit programs. Side-effect imports and build tags are deliberate tools for build-time control.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6E6E6"/>
                </a:solidFill>
              </a:defRPr>
            </a:pPr>
            <a:r>
              <a:t>Package Visibility &amp; init order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Export rules: Identifiers beginning with uppercase are exported to other packages.</a:t>
            </a:r>
          </a:p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init() functions run before main(), can be multiple per package/file — use sparingly.</a:t>
            </a:r>
          </a:p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Package initialization order: determined by import graph; avoid init for complex logic.</a:t>
            </a:r>
          </a:p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Zero values: variables are auto-initialized (int=0, string="", pointers=nil) which reduces boilerplate.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097280"/>
            <a:ext cx="3291840" cy="5029200"/>
          </a:xfrm>
          <a:prstGeom prst="rect">
            <a:avLst/>
          </a:prstGeom>
          <a:solidFill>
            <a:srgbClr val="1E2228"/>
          </a:solidFill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8CDCFF"/>
                </a:solidFill>
                <a:latin typeface="Courier New"/>
              </a:defRPr>
            </a:pPr>
            <a:r>
              <a:t>package config</a:t>
            </a:r>
          </a:p>
          <a:p>
            <a:pPr>
              <a:defRPr sz="1200">
                <a:solidFill>
                  <a:srgbClr val="8CDCFF"/>
                </a:solidFill>
                <a:latin typeface="Courier New"/>
              </a:defRPr>
            </a:pPr>
            <a:r>
              <a:t>var DefaultPort = 8080 // exported</a:t>
            </a:r>
          </a:p>
          <a:p>
            <a:pPr>
              <a:defRPr sz="1200">
                <a:solidFill>
                  <a:srgbClr val="8CDCFF"/>
                </a:solidFill>
                <a:latin typeface="Courier New"/>
              </a:defRPr>
            </a:pPr>
          </a:p>
          <a:p>
            <a:pPr>
              <a:defRPr sz="1200">
                <a:solidFill>
                  <a:srgbClr val="8CDCFF"/>
                </a:solidFill>
                <a:latin typeface="Courier New"/>
              </a:defRPr>
            </a:pPr>
            <a:r>
              <a:t>func init() {</a:t>
            </a:r>
          </a:p>
          <a:p>
            <a:pPr>
              <a:defRPr sz="1200">
                <a:solidFill>
                  <a:srgbClr val="8CDCFF"/>
                </a:solidFill>
                <a:latin typeface="Courier New"/>
              </a:defRPr>
            </a:pPr>
            <a:r>
              <a:t>    // setup global state, prefer explicit constructors instead</a:t>
            </a:r>
          </a:p>
          <a:p>
            <a:pPr>
              <a:defRPr sz="1200">
                <a:solidFill>
                  <a:srgbClr val="8CDCFF"/>
                </a:solidFill>
                <a:latin typeface="Courier New"/>
              </a:defRPr>
            </a:pPr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B478FF"/>
                </a:solidFill>
              </a:defRPr>
            </a:pPr>
            <a:r>
              <a:t>Prefer explicit constructors and dependency injection over init() for testable code.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6E6E6"/>
                </a:solidFill>
              </a:defRPr>
            </a:pPr>
            <a:r>
              <a:t>Exercise — Write a simple CLI (2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Task: Create a `main.go` that reads os.Args and prints a JSON object with args count and list.</a:t>
            </a:r>
          </a:p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Goal: practice imports (os, encoding/json), basic types, and fmt usage.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097280"/>
            <a:ext cx="3291840" cy="5029200"/>
          </a:xfrm>
          <a:prstGeom prst="rect">
            <a:avLst/>
          </a:prstGeom>
          <a:solidFill>
            <a:srgbClr val="1E2228"/>
          </a:solidFill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8CDCFF"/>
                </a:solidFill>
                <a:latin typeface="Courier New"/>
              </a:defRPr>
            </a:pPr>
            <a:r>
              <a:t>package main</a:t>
            </a:r>
          </a:p>
          <a:p>
            <a:pPr>
              <a:defRPr sz="1200">
                <a:solidFill>
                  <a:srgbClr val="8CDCFF"/>
                </a:solidFill>
                <a:latin typeface="Courier New"/>
              </a:defRPr>
            </a:pPr>
            <a:r>
              <a:t>import ("os"; "encoding/json"; "fmt")</a:t>
            </a:r>
          </a:p>
          <a:p>
            <a:pPr>
              <a:defRPr sz="1200">
                <a:solidFill>
                  <a:srgbClr val="8CDCFF"/>
                </a:solidFill>
                <a:latin typeface="Courier New"/>
              </a:defRPr>
            </a:pPr>
            <a:r>
              <a:t>func main(){ m:=map[string]any{"count":len(os.Args),"args":os.Args}; b,_:=json.Marshal(m); fmt.Println(string(b)) 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B478FF"/>
                </a:solidFill>
              </a:defRPr>
            </a:pPr>
            <a:r>
              <a:t>Timebox: 2 minutes. Focus on building something runnable quickly.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6E6E6"/>
                </a:solidFill>
              </a:defRPr>
            </a:pPr>
            <a:r>
              <a:t>Quiz 1 — Fundamentals (MCQ, easy)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Q1. Which of these makes an identifier exported?</a:t>
            </a:r>
            <a:br/>
            <a:r>
              <a:t>  a) starts with _</a:t>
            </a:r>
            <a:br/>
            <a:r>
              <a:t>  b) starts with uppercase</a:t>
            </a:r>
            <a:br/>
            <a:r>
              <a:t>  c) has comment //export</a:t>
            </a:r>
            <a:br/>
            <a:r>
              <a:t>  d) placed in package main</a:t>
            </a:r>
          </a:p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Q2. What does `_ "net/http/pprof"` do?</a:t>
            </a:r>
            <a:br/>
            <a:r>
              <a:t>  a) aliased import</a:t>
            </a:r>
            <a:br/>
            <a:r>
              <a:t>  b) import for side-effects only</a:t>
            </a:r>
            <a:br/>
            <a:r>
              <a:t>  c) prevents build</a:t>
            </a:r>
            <a:br/>
            <a:r>
              <a:t>  d) none of the above</a:t>
            </a:r>
          </a:p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Self-check: 2 questions — to pass &gt;=80% you must answer both correctly (100%).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6E6E6"/>
                </a:solidFill>
              </a:defRPr>
            </a:pPr>
            <a:r>
              <a:t>Section 1 Summary — 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Go's package/export convention is simple: uppercase = exported.</a:t>
            </a:r>
          </a:p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Use init sparingly; prefer explicit setup functions.</a:t>
            </a:r>
          </a:p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Build tags control compilation; blank imports run side-effects.</a:t>
            </a:r>
          </a:p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Zero values minimize init boilerplate.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B478FF"/>
                </a:solidFill>
              </a:defRPr>
            </a:pPr>
            <a:r>
              <a:t>Quick revision: memorize export rule, build tag placement, and zero-value defaults.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6E6E6"/>
                </a:solidFill>
              </a:defRPr>
            </a:pPr>
            <a:r>
              <a:t>Section 2 — Types, Memory, and Ownership (In depth)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Basic types: integers (int vs int32/64), floats, bool, string, byte (alias uint8), rune (alias int32).</a:t>
            </a:r>
          </a:p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Composite types: arrays (value semantics), slices (descriptor: ptr,len,cap), maps (hash table), structs.</a:t>
            </a:r>
          </a:p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Pointers: allowed; no pointer arithmetic. Taking address of local variable is safe due to escape analysis.</a:t>
            </a:r>
          </a:p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Escape analysis: decides whether variables are heap-allocated; affects GC and performance.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097280"/>
            <a:ext cx="3291840" cy="5029200"/>
          </a:xfrm>
          <a:prstGeom prst="rect">
            <a:avLst/>
          </a:prstGeom>
          <a:solidFill>
            <a:srgbClr val="1E2228"/>
          </a:solidFill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8CDCFF"/>
                </a:solidFill>
                <a:latin typeface="Courier New"/>
              </a:defRPr>
            </a:pPr>
            <a:r>
              <a:t>s := make([]int, 0, 10) // len=0 cap=10</a:t>
            </a:r>
          </a:p>
          <a:p>
            <a:pPr>
              <a:defRPr sz="1200">
                <a:solidFill>
                  <a:srgbClr val="8CDCFF"/>
                </a:solidFill>
                <a:latin typeface="Courier New"/>
              </a:defRPr>
            </a:pPr>
            <a:r>
              <a:t>p := &amp;s[0] // pointer to element; ensure len&gt;0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B478FF"/>
                </a:solidFill>
              </a:defRPr>
            </a:pPr>
            <a:r>
              <a:t>Understand slice header (pointer,length,capacity). Re-slicing and append may reallocate underlying array.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6E6E6"/>
                </a:solidFill>
              </a:defRPr>
            </a:pPr>
            <a:r>
              <a:t>Memory &amp; Escape Analysis — deeper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If variable's address is returned or referenced by goroutine, compiler may allocate it on heap.</a:t>
            </a:r>
          </a:p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Minimize heap allocations in hot paths: reuse buffers, use sync.Pool for short-lived objects.</a:t>
            </a:r>
          </a:p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Garbage collector: concurrent, generational-ish improvements in recent Go releases — tune by reducing allocations.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097280"/>
            <a:ext cx="3291840" cy="5029200"/>
          </a:xfrm>
          <a:prstGeom prst="rect">
            <a:avLst/>
          </a:prstGeom>
          <a:solidFill>
            <a:srgbClr val="1E2228"/>
          </a:solidFill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8CDCFF"/>
                </a:solidFill>
                <a:latin typeface="Courier New"/>
              </a:defRPr>
            </a:pPr>
            <a:r>
              <a:t>// avoid in hot loops</a:t>
            </a:r>
          </a:p>
          <a:p>
            <a:pPr>
              <a:defRPr sz="1200">
                <a:solidFill>
                  <a:srgbClr val="8CDCFF"/>
                </a:solidFill>
                <a:latin typeface="Courier New"/>
              </a:defRPr>
            </a:pPr>
            <a:r>
              <a:t>for i:=0;i&lt;1e6;i++{ s := fmt.Sprintf("%d", i); _ = s 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B478FF"/>
                </a:solidFill>
              </a:defRPr>
            </a:pPr>
            <a:r>
              <a:t>Prefer bytes.Buffer or strconv.AppendInt to reduce allocations in tight loops.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6E6E6"/>
                </a:solidFill>
              </a:defRPr>
            </a:pPr>
            <a:r>
              <a:t>Exercise — Slice capacity (2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Task: Allocate a slice with capacity 8, append 9 elements. Print len and cap. Predict values before running.</a:t>
            </a:r>
          </a:p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Goal: internalize len vs cap behavior and reallocation policy.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097280"/>
            <a:ext cx="3291840" cy="5029200"/>
          </a:xfrm>
          <a:prstGeom prst="rect">
            <a:avLst/>
          </a:prstGeom>
          <a:solidFill>
            <a:srgbClr val="1E2228"/>
          </a:solidFill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8CDCFF"/>
                </a:solidFill>
                <a:latin typeface="Courier New"/>
              </a:defRPr>
            </a:pPr>
            <a:r>
              <a:t>s := make([]int,0,8)</a:t>
            </a:r>
          </a:p>
          <a:p>
            <a:pPr>
              <a:defRPr sz="1200">
                <a:solidFill>
                  <a:srgbClr val="8CDCFF"/>
                </a:solidFill>
                <a:latin typeface="Courier New"/>
              </a:defRPr>
            </a:pPr>
            <a:r>
              <a:t>for i:=0;i&lt;9;i++{ s=append(s,i) }</a:t>
            </a:r>
          </a:p>
          <a:p>
            <a:pPr>
              <a:defRPr sz="1200">
                <a:solidFill>
                  <a:srgbClr val="8CDCFF"/>
                </a:solidFill>
                <a:latin typeface="Courier New"/>
              </a:defRPr>
            </a:pPr>
            <a:r>
              <a:t>fmt.Println(len(s), cap(s))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B478FF"/>
                </a:solidFill>
              </a:defRPr>
            </a:pPr>
            <a:r>
              <a:t>Prediction: len=9, cap &gt;=9 (commonly 16 due to doubling). Exact growth is implementation-dependent.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6E6E6"/>
                </a:solidFill>
              </a:defRPr>
            </a:pPr>
            <a:r>
              <a:t>Quiz 2 — Types &amp; Memory (MCQ, medium)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Q1. Which has value semantics?</a:t>
            </a:r>
            <a:br/>
            <a:r>
              <a:t>  a) slice</a:t>
            </a:r>
            <a:br/>
            <a:r>
              <a:t>  b) array</a:t>
            </a:r>
            <a:br/>
            <a:r>
              <a:t>  c) map</a:t>
            </a:r>
            <a:br/>
            <a:r>
              <a:t>  d) channel</a:t>
            </a:r>
          </a:p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Q2. What decides if a variable 'escapes' to heap?</a:t>
            </a:r>
            <a:br/>
            <a:r>
              <a:t>  a) fmt.Println usage</a:t>
            </a:r>
            <a:br/>
            <a:r>
              <a:t>  b) compiler escape analysis</a:t>
            </a:r>
            <a:br/>
            <a:r>
              <a:t>  c) runtime GC</a:t>
            </a:r>
            <a:br/>
            <a:r>
              <a:t>  d) variable size only</a:t>
            </a:r>
          </a:p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To pass: 2 questions, &gt;=80% -&gt; 2 correct (100%).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6E6E6"/>
                </a:solidFill>
              </a:defRPr>
            </a:pPr>
            <a:r>
              <a:t>Section 2 Summary — Key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Slices are descriptors; arrays are values — copying arrays copies contents.</a:t>
            </a:r>
          </a:p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Escape analysis determines heap allocation; avoid needless allocations for perf.</a:t>
            </a:r>
          </a:p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Use sync.Pool or buffer reuse in hot loops.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B478FF"/>
                </a:solidFill>
              </a:defRPr>
            </a:pPr>
            <a:r>
              <a:t>Memorize slice header layout and common patterns to reduce allocations.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6E6E6"/>
                </a:solidFill>
              </a:defRPr>
            </a:pPr>
            <a:r>
              <a:t>Section 3 — Functions, Methods &amp; Interfaces (In depth)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Functions: multiple return values, named returns, variadic parameters.</a:t>
            </a:r>
          </a:p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Methods: defined with receiver; receiver can be value or pointer — choose based on mutation/cost.</a:t>
            </a:r>
          </a:p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Interfaces: implicit satisfaction; small interfaces (io.Reader, error) are idiomatic.</a:t>
            </a:r>
          </a:p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Empty interface `interface{}` represents any type; use type assertions or switches for extraction.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097280"/>
            <a:ext cx="3291840" cy="5029200"/>
          </a:xfrm>
          <a:prstGeom prst="rect">
            <a:avLst/>
          </a:prstGeom>
          <a:solidFill>
            <a:srgbClr val="1E2228"/>
          </a:solidFill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8CDCFF"/>
                </a:solidFill>
                <a:latin typeface="Courier New"/>
              </a:defRPr>
            </a:pPr>
            <a:r>
              <a:t>func (r *Rect) Area() float64 { return r.W * r.H }</a:t>
            </a:r>
          </a:p>
          <a:p>
            <a:pPr>
              <a:defRPr sz="1200">
                <a:solidFill>
                  <a:srgbClr val="8CDCFF"/>
                </a:solidFill>
                <a:latin typeface="Courier New"/>
              </a:defRPr>
            </a:pPr>
            <a:r>
              <a:t>var _ io.Reader = (*MyReader)(nil) // compile-time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B478FF"/>
                </a:solidFill>
              </a:defRPr>
            </a:pPr>
            <a:r>
              <a:t>Prefer minimal interfaces and define them at consumer site for better decoupling.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6E6E6"/>
                </a:solidFill>
              </a:defRPr>
            </a:pPr>
            <a:r>
              <a:t>Methods: pointer vs value receiver (deep)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Pointer receivers allow mutation and avoid copying large structs.</a:t>
            </a:r>
          </a:p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Value receivers are fine for small immutable structs (e.g., pair{int,int}).</a:t>
            </a:r>
          </a:p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Method sets differ: pointer receiver gives methods to both T and *T; value receiver gives to T only.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097280"/>
            <a:ext cx="3291840" cy="5029200"/>
          </a:xfrm>
          <a:prstGeom prst="rect">
            <a:avLst/>
          </a:prstGeom>
          <a:solidFill>
            <a:srgbClr val="1E2228"/>
          </a:solidFill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8CDCFF"/>
                </a:solidFill>
                <a:latin typeface="Courier New"/>
              </a:defRPr>
            </a:pPr>
            <a:r>
              <a:t>type Big struct { arr [1024]int }</a:t>
            </a:r>
          </a:p>
          <a:p>
            <a:pPr>
              <a:defRPr sz="1200">
                <a:solidFill>
                  <a:srgbClr val="8CDCFF"/>
                </a:solidFill>
                <a:latin typeface="Courier New"/>
              </a:defRPr>
            </a:pPr>
            <a:r>
              <a:t>func (b Big) Size() int { return len(b.arr) } // copies big</a:t>
            </a:r>
          </a:p>
          <a:p>
            <a:pPr>
              <a:defRPr sz="1200">
                <a:solidFill>
                  <a:srgbClr val="8CDCFF"/>
                </a:solidFill>
                <a:latin typeface="Courier New"/>
              </a:defRPr>
            </a:pPr>
            <a:r>
              <a:t>func (b *Big) Mutate(){ b.arr[0]=1 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B478FF"/>
                </a:solidFill>
              </a:defRPr>
            </a:pPr>
            <a:r>
              <a:t>Rule of thumb: use pointer receivers if the type has mutable state or is large to copy.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6E6E6"/>
                </a:solidFill>
              </a:defRPr>
            </a:pPr>
            <a:r>
              <a:t>Exercise — Interface check (2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Task: Create an interface `Greet` with `G()` returning string. Implement for `type Person struct{Name string}` and assert at compile time that Person implements Greet.</a:t>
            </a:r>
          </a:p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Goal: practice implicit interface satisfaction and compile-time assertions.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097280"/>
            <a:ext cx="3291840" cy="5029200"/>
          </a:xfrm>
          <a:prstGeom prst="rect">
            <a:avLst/>
          </a:prstGeom>
          <a:solidFill>
            <a:srgbClr val="1E2228"/>
          </a:solidFill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8CDCFF"/>
                </a:solidFill>
                <a:latin typeface="Courier New"/>
              </a:defRPr>
            </a:pPr>
            <a:r>
              <a:t>type Greet interface{ G() string }</a:t>
            </a:r>
          </a:p>
          <a:p>
            <a:pPr>
              <a:defRPr sz="1200">
                <a:solidFill>
                  <a:srgbClr val="8CDCFF"/>
                </a:solidFill>
                <a:latin typeface="Courier New"/>
              </a:defRPr>
            </a:pPr>
            <a:r>
              <a:t>type Person struct{ Name string }</a:t>
            </a:r>
          </a:p>
          <a:p>
            <a:pPr>
              <a:defRPr sz="1200">
                <a:solidFill>
                  <a:srgbClr val="8CDCFF"/>
                </a:solidFill>
                <a:latin typeface="Courier New"/>
              </a:defRPr>
            </a:pPr>
            <a:r>
              <a:t>func (p Person) G() string { return "Hi "+p.Name }</a:t>
            </a:r>
          </a:p>
          <a:p>
            <a:pPr>
              <a:defRPr sz="1200">
                <a:solidFill>
                  <a:srgbClr val="8CDCFF"/>
                </a:solidFill>
                <a:latin typeface="Courier New"/>
              </a:defRPr>
            </a:pPr>
            <a:r>
              <a:t>var _ Greet = Person{}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B478FF"/>
                </a:solidFill>
              </a:defRPr>
            </a:pPr>
            <a:r>
              <a:t>2-minute task: focus on small, correct code.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6E6E6"/>
                </a:solidFill>
              </a:defRPr>
            </a:pPr>
            <a:r>
              <a:t>Quiz 3 — Functions &amp; Interfaces (MCQ, medium)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Q1. Which is idiomatic? </a:t>
            </a:r>
            <a:br/>
            <a:r>
              <a:t> a) Large interface with many methods</a:t>
            </a:r>
            <a:br/>
            <a:r>
              <a:t> b) Small interfaces at consumer site</a:t>
            </a:r>
            <a:br/>
            <a:r>
              <a:t> c) Single global interface for all</a:t>
            </a:r>
            <a:br/>
            <a:r>
              <a:t> d) Interfaces only for testing</a:t>
            </a:r>
          </a:p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Q2. Method with pointer receiver is needed when:</a:t>
            </a:r>
            <a:br/>
            <a:r>
              <a:t> a) You mutate the receiver</a:t>
            </a:r>
            <a:br/>
            <a:r>
              <a:t> b) Receiver is tiny</a:t>
            </a:r>
            <a:br/>
            <a:r>
              <a:t> c) You want value copying</a:t>
            </a:r>
            <a:br/>
            <a:r>
              <a:t> d) For static methods</a:t>
            </a:r>
          </a:p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Pass: 2 Qs, &gt;=80% -&gt; 2 correct.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6E6E6"/>
                </a:solidFill>
              </a:defRPr>
            </a:pPr>
            <a:r>
              <a:t>Section 3 Summary — Quick revision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Functions can return multiple values; name returns for clarity when helpful.</a:t>
            </a:r>
          </a:p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Use pointer receivers for mutation/large structs; value receivers for small immutable types.</a:t>
            </a:r>
          </a:p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Prefer small, focused interfaces defined where used.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B478FF"/>
                </a:solidFill>
              </a:defRPr>
            </a:pPr>
            <a:r>
              <a:t>Remember the method set differences between T and *T when choosing receivers.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6E6E6"/>
                </a:solidFill>
              </a:defRPr>
            </a:pPr>
            <a:r>
              <a:t>Section 4 — Concurrency (Goroutines &amp; Channels)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Goroutines are lightweight green threads scheduled by Go runtime (M:N scheduler).</a:t>
            </a:r>
          </a:p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Channels are typed conduits for communication; can be buffered or unbuffered.</a:t>
            </a:r>
          </a:p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Select allows multiplexing over channels; default case and timeouts enable non-blocking patterns.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097280"/>
            <a:ext cx="3291840" cy="5029200"/>
          </a:xfrm>
          <a:prstGeom prst="rect">
            <a:avLst/>
          </a:prstGeom>
          <a:solidFill>
            <a:srgbClr val="1E2228"/>
          </a:solidFill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8CDCFF"/>
                </a:solidFill>
                <a:latin typeface="Courier New"/>
              </a:defRPr>
            </a:pPr>
            <a:r>
              <a:t>c := make(chan int, 2)</a:t>
            </a:r>
          </a:p>
          <a:p>
            <a:pPr>
              <a:defRPr sz="1200">
                <a:solidFill>
                  <a:srgbClr val="8CDCFF"/>
                </a:solidFill>
                <a:latin typeface="Courier New"/>
              </a:defRPr>
            </a:pPr>
            <a:r>
              <a:t>go func(){ c &lt;- 1 }()</a:t>
            </a:r>
          </a:p>
          <a:p>
            <a:pPr>
              <a:defRPr sz="1200">
                <a:solidFill>
                  <a:srgbClr val="8CDCFF"/>
                </a:solidFill>
                <a:latin typeface="Courier New"/>
              </a:defRPr>
            </a:pPr>
            <a:r>
              <a:t>select { case v:=&lt;-c: _=v; default: fmt.Println("no data") 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B478FF"/>
                </a:solidFill>
              </a:defRPr>
            </a:pPr>
            <a:r>
              <a:t>Avoid sharing memory by communicating; when sharing, use sync primitives and be explicit about ownership.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6E6E6"/>
                </a:solidFill>
              </a:defRPr>
            </a:pPr>
            <a:r>
              <a:t>Concurrency primitives &amp; pitfalls (deep)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Race conditions: use `go test -race` in dev to detect races. Race detector has overhead; not for production builds.</a:t>
            </a:r>
          </a:p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Deadlocks: common when goroutine expecting send/receive doesn't proceed — always reason about liveness.</a:t>
            </a:r>
          </a:p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Buffered channels can reduce blocking but don't eliminate synchronization needs.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097280"/>
            <a:ext cx="3291840" cy="5029200"/>
          </a:xfrm>
          <a:prstGeom prst="rect">
            <a:avLst/>
          </a:prstGeom>
          <a:solidFill>
            <a:srgbClr val="1E2228"/>
          </a:solidFill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8CDCFF"/>
                </a:solidFill>
                <a:latin typeface="Courier New"/>
              </a:defRPr>
            </a:pPr>
            <a:r>
              <a:t>// common deadlock</a:t>
            </a:r>
          </a:p>
          <a:p>
            <a:pPr>
              <a:defRPr sz="1200">
                <a:solidFill>
                  <a:srgbClr val="8CDCFF"/>
                </a:solidFill>
                <a:latin typeface="Courier New"/>
              </a:defRPr>
            </a:pPr>
            <a:r>
              <a:t>c := make(chan int)</a:t>
            </a:r>
          </a:p>
          <a:p>
            <a:pPr>
              <a:defRPr sz="1200">
                <a:solidFill>
                  <a:srgbClr val="8CDCFF"/>
                </a:solidFill>
                <a:latin typeface="Courier New"/>
              </a:defRPr>
            </a:pPr>
            <a:r>
              <a:t>&lt;-c // main blocks forever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B478FF"/>
                </a:solidFill>
              </a:defRPr>
            </a:pPr>
            <a:r>
              <a:t>Prefer timeouts/context cancellation for goroutine lifecycle management.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6E6E6"/>
                </a:solidFill>
              </a:defRPr>
            </a:pPr>
            <a:r>
              <a:t>Patterns: worker pools, pipelines, fan-in/fan-out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Worker pool: spawn N workers reading from job channel, results to result channel.</a:t>
            </a:r>
          </a:p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Pipeline: stage outputs feed next stage; minimize shared state.</a:t>
            </a:r>
          </a:p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Fan-in: merge multiple channel sources into one for centralized processing.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097280"/>
            <a:ext cx="3291840" cy="5029200"/>
          </a:xfrm>
          <a:prstGeom prst="rect">
            <a:avLst/>
          </a:prstGeom>
          <a:solidFill>
            <a:srgbClr val="1E2228"/>
          </a:solidFill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8CDCFF"/>
                </a:solidFill>
                <a:latin typeface="Courier New"/>
              </a:defRPr>
            </a:pPr>
            <a:r>
              <a:t>// simple worker</a:t>
            </a:r>
          </a:p>
          <a:p>
            <a:pPr>
              <a:defRPr sz="1200">
                <a:solidFill>
                  <a:srgbClr val="8CDCFF"/>
                </a:solidFill>
                <a:latin typeface="Courier New"/>
              </a:defRPr>
            </a:pPr>
            <a:r>
              <a:t>jobs := make(chan Job); results := make(chan Result)</a:t>
            </a:r>
          </a:p>
          <a:p>
            <a:pPr>
              <a:defRPr sz="1200">
                <a:solidFill>
                  <a:srgbClr val="8CDCFF"/>
                </a:solidFill>
                <a:latin typeface="Courier New"/>
              </a:defRPr>
            </a:pPr>
            <a:r>
              <a:t>for w:=0; w&lt;4; w++{ go worker(jobs, results) 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B478FF"/>
                </a:solidFill>
              </a:defRPr>
            </a:pPr>
            <a:r>
              <a:t>Design patterns help reason about concurrency and make systems maintainable.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6E6E6"/>
                </a:solidFill>
              </a:defRPr>
            </a:pPr>
            <a:r>
              <a:t>Exercise — Simple pipeline (2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Task: Create 2 goroutines: producer sends ints 1..3 to channel; consumer reads and prints doubled value.</a:t>
            </a:r>
          </a:p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Goal: practice channel send/receive and goroutine basics.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097280"/>
            <a:ext cx="3291840" cy="5029200"/>
          </a:xfrm>
          <a:prstGeom prst="rect">
            <a:avLst/>
          </a:prstGeom>
          <a:solidFill>
            <a:srgbClr val="1E2228"/>
          </a:solidFill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8CDCFF"/>
                </a:solidFill>
                <a:latin typeface="Courier New"/>
              </a:defRPr>
            </a:pPr>
            <a:r>
              <a:t>ch:=make(chan int)</a:t>
            </a:r>
          </a:p>
          <a:p>
            <a:pPr>
              <a:defRPr sz="1200">
                <a:solidFill>
                  <a:srgbClr val="8CDCFF"/>
                </a:solidFill>
                <a:latin typeface="Courier New"/>
              </a:defRPr>
            </a:pPr>
            <a:r>
              <a:t>go func(){ for i:=1;i&lt;=3;i++{ ch&lt;-i }; close(ch) }()</a:t>
            </a:r>
          </a:p>
          <a:p>
            <a:pPr>
              <a:defRPr sz="1200">
                <a:solidFill>
                  <a:srgbClr val="8CDCFF"/>
                </a:solidFill>
                <a:latin typeface="Courier New"/>
              </a:defRPr>
            </a:pPr>
            <a:r>
              <a:t>go func(){ for v:=range ch{ fmt.Println(v*2) } }()</a:t>
            </a:r>
          </a:p>
          <a:p>
            <a:pPr>
              <a:defRPr sz="1200">
                <a:solidFill>
                  <a:srgbClr val="8CDCFF"/>
                </a:solidFill>
                <a:latin typeface="Courier New"/>
              </a:defRPr>
            </a:pPr>
            <a:r>
              <a:t>// sleep or sync.WaitGroup to wait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B478FF"/>
                </a:solidFill>
              </a:defRPr>
            </a:pPr>
            <a:r>
              <a:t>Use WaitGroup for proper coordination, or a short sleep for demo.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6E6E6"/>
                </a:solidFill>
              </a:defRPr>
            </a:pPr>
            <a:r>
              <a:t>Quiz 4 — Concurrency (MCQ, medium-hard)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Q1. Purpose of buffered channels?</a:t>
            </a:r>
            <a:br/>
            <a:r>
              <a:t> a) avoid blocking entirely</a:t>
            </a:r>
            <a:br/>
            <a:r>
              <a:t> b) allow limited sends without immediate receiver</a:t>
            </a:r>
            <a:br/>
            <a:r>
              <a:t> c) ensure order</a:t>
            </a:r>
            <a:br/>
            <a:r>
              <a:t> d) make channels threadsafe</a:t>
            </a:r>
          </a:p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Q2. How to detect race conditions during tests?</a:t>
            </a:r>
            <a:br/>
            <a:r>
              <a:t> a) go test -v</a:t>
            </a:r>
            <a:br/>
            <a:r>
              <a:t> b) go test -race</a:t>
            </a:r>
            <a:br/>
            <a:r>
              <a:t> c) go run -race</a:t>
            </a:r>
            <a:br/>
            <a:r>
              <a:t> d) golangci-lint</a:t>
            </a:r>
          </a:p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Pass: 2 Qs, &gt;=80% -&gt; 2 correct.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6E6E6"/>
                </a:solidFill>
              </a:defRPr>
            </a:pPr>
            <a:r>
              <a:t>Section 4 Summary — Concurrency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Goroutines are cheap but not free; use pools and control concurrency.</a:t>
            </a:r>
          </a:p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Channels express ownership transfer; prefer composition over shared mutable state.</a:t>
            </a:r>
          </a:p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Always run race detector during CI for concurrent code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B478FF"/>
                </a:solidFill>
              </a:defRPr>
            </a:pPr>
            <a:r>
              <a:t>Key: think about liveness, ownership, and resource cleanup (contexts/closing channels).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6E6E6"/>
                </a:solidFill>
              </a:defRPr>
            </a:pPr>
            <a:r>
              <a:t>Section 5 — Generics, Reflection, Unsafe &amp; cgo (In depth)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Generics (Go 1.18+): type parameters enable reusable algorithms without interface{} overhead.</a:t>
            </a:r>
          </a:p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Reflection (reflect): powerful but slow and complex; use for serialization or libraries.</a:t>
            </a:r>
          </a:p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unsafe package: allows pointer arithmetic and memory tricks — use only when necessary.</a:t>
            </a:r>
          </a:p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cgo: call C code; introduces cgo overhead and non-portability. Use for legacy interop.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097280"/>
            <a:ext cx="3291840" cy="5029200"/>
          </a:xfrm>
          <a:prstGeom prst="rect">
            <a:avLst/>
          </a:prstGeom>
          <a:solidFill>
            <a:srgbClr val="1E2228"/>
          </a:solidFill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8CDCFF"/>
                </a:solidFill>
                <a:latin typeface="Courier New"/>
              </a:defRPr>
            </a:pPr>
            <a:r>
              <a:t>// generic function</a:t>
            </a:r>
          </a:p>
          <a:p>
            <a:pPr>
              <a:defRPr sz="1200">
                <a:solidFill>
                  <a:srgbClr val="8CDCFF"/>
                </a:solidFill>
                <a:latin typeface="Courier New"/>
              </a:defRPr>
            </a:pPr>
            <a:r>
              <a:t>func Map[T any](s []T, f func(T)T) []T {</a:t>
            </a:r>
          </a:p>
          <a:p>
            <a:pPr>
              <a:defRPr sz="1200">
                <a:solidFill>
                  <a:srgbClr val="8CDCFF"/>
                </a:solidFill>
                <a:latin typeface="Courier New"/>
              </a:defRPr>
            </a:pPr>
            <a:r>
              <a:t>  r := make([]T, len(s))</a:t>
            </a:r>
          </a:p>
          <a:p>
            <a:pPr>
              <a:defRPr sz="1200">
                <a:solidFill>
                  <a:srgbClr val="8CDCFF"/>
                </a:solidFill>
                <a:latin typeface="Courier New"/>
              </a:defRPr>
            </a:pPr>
            <a:r>
              <a:t>  for i,v := range s { r[i] = f(v) }</a:t>
            </a:r>
          </a:p>
          <a:p>
            <a:pPr>
              <a:defRPr sz="1200">
                <a:solidFill>
                  <a:srgbClr val="8CDCFF"/>
                </a:solidFill>
                <a:latin typeface="Courier New"/>
              </a:defRPr>
            </a:pPr>
            <a:r>
              <a:t>  return r</a:t>
            </a:r>
          </a:p>
          <a:p>
            <a:pPr>
              <a:defRPr sz="1200">
                <a:solidFill>
                  <a:srgbClr val="8CDCFF"/>
                </a:solidFill>
                <a:latin typeface="Courier New"/>
              </a:defRPr>
            </a:pPr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B478FF"/>
                </a:solidFill>
              </a:defRPr>
            </a:pPr>
            <a:r>
              <a:t>Prefer generics for type-safe containers/algorithms; prefer reflection sparingly.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6E6E6"/>
                </a:solidFill>
              </a:defRPr>
            </a:pPr>
            <a:r>
              <a:t>Generics —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Keep type parameter lists small and name them meaningfully (T, K, V are ok for containers).</a:t>
            </a:r>
          </a:p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Use constraints from `constraints` package for numeric operations.</a:t>
            </a:r>
          </a:p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Avoid over-generalizing APIs—explicit APIs are often clearer.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097280"/>
            <a:ext cx="3291840" cy="5029200"/>
          </a:xfrm>
          <a:prstGeom prst="rect">
            <a:avLst/>
          </a:prstGeom>
          <a:solidFill>
            <a:srgbClr val="1E2228"/>
          </a:solidFill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8CDCFF"/>
                </a:solidFill>
                <a:latin typeface="Courier New"/>
              </a:defRPr>
            </a:pPr>
            <a:r>
              <a:t>type Ordered interface{ ~int | ~float64 | ~string 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B478FF"/>
                </a:solidFill>
              </a:defRPr>
            </a:pPr>
            <a:r>
              <a:t>Generics improve ergonomics while maintaining compile-time type safety.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6E6E6"/>
                </a:solidFill>
              </a:defRPr>
            </a:pPr>
            <a:r>
              <a:t>Exercise — Write a generic 'Contains' (2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Task: Implement `func Contains[T comparable](s []T, v T) bool` and test with ints and strings.</a:t>
            </a:r>
          </a:p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Goal: practice generics and comparable constraint.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097280"/>
            <a:ext cx="3291840" cy="5029200"/>
          </a:xfrm>
          <a:prstGeom prst="rect">
            <a:avLst/>
          </a:prstGeom>
          <a:solidFill>
            <a:srgbClr val="1E2228"/>
          </a:solidFill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8CDCFF"/>
                </a:solidFill>
                <a:latin typeface="Courier New"/>
              </a:defRPr>
            </a:pPr>
            <a:r>
              <a:t>func Contains[T comparable](s []T, v T) bool{ for _,x:=range s{ if x==v{return true} }; return false 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B478FF"/>
                </a:solidFill>
              </a:defRPr>
            </a:pPr>
            <a:r>
              <a:t>Comparable constraint ensures `==` works at compile time.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6E6E6"/>
                </a:solidFill>
              </a:defRPr>
            </a:pPr>
            <a:r>
              <a:t>Quiz 5 — Advanced (MCQ, hard)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Q1. Reflection is typically:</a:t>
            </a:r>
            <a:br/>
            <a:r>
              <a:t> a) faster than generics</a:t>
            </a:r>
            <a:br/>
            <a:r>
              <a:t> b) compile-time checked</a:t>
            </a:r>
            <a:br/>
            <a:r>
              <a:t> c) runtime and slower</a:t>
            </a:r>
            <a:br/>
            <a:r>
              <a:t> d) removed in Go 2</a:t>
            </a:r>
          </a:p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Q2. unsafe.Pointer allows:</a:t>
            </a:r>
            <a:br/>
            <a:r>
              <a:t> a) portable memory safety</a:t>
            </a:r>
            <a:br/>
            <a:r>
              <a:t> b) arbitrary pointer conversions</a:t>
            </a:r>
            <a:br/>
            <a:r>
              <a:t> c) automatic GC bypass</a:t>
            </a:r>
            <a:br/>
            <a:r>
              <a:t> d) none of above</a:t>
            </a:r>
          </a:p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Pass: 2 Qs, &gt;=80% -&gt; 2 correct.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6E6E6"/>
                </a:solidFill>
              </a:defRPr>
            </a:pPr>
            <a:r>
              <a:t>Section 5 Summary — Advanced topics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Generics: use for reusable, type-safe algorithms.</a:t>
            </a:r>
            <a:br/>
            <a:r>
              <a:t>Reflection: use sparingly; favors libraries.</a:t>
            </a:r>
            <a:br/>
            <a:r>
              <a:t>unsafe/cgo: last-resort interop and optimizations.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B478FF"/>
                </a:solidFill>
              </a:defRPr>
            </a:pPr>
            <a:r>
              <a:t>Memorize: generics syntax, comparable constraint, and when to avoid reflection.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6E6E6"/>
                </a:solidFill>
              </a:defRPr>
            </a:pPr>
            <a:r>
              <a:t>Section 6 — Tooling: go mod, testing, profiling, race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Modules: `go.mod` tracks module path &amp; versions. Use `go get` to add/upgrade dependencies.</a:t>
            </a:r>
          </a:p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Testing: `testing` package with `go test`. Table-driven tests are idiomatic.</a:t>
            </a:r>
          </a:p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Benchmarking: `func BenchmarkX(b *testing.B)` and `go test -bench`</a:t>
            </a:r>
          </a:p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Profiling: pprof with `net/http/pprof` or runtime/pprof to capture CPU/mem profiles.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097280"/>
            <a:ext cx="3291840" cy="5029200"/>
          </a:xfrm>
          <a:prstGeom prst="rect">
            <a:avLst/>
          </a:prstGeom>
          <a:solidFill>
            <a:srgbClr val="1E2228"/>
          </a:solidFill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8CDCFF"/>
                </a:solidFill>
                <a:latin typeface="Courier New"/>
              </a:defRPr>
            </a:pPr>
            <a:r>
              <a:t>// table-driven test</a:t>
            </a:r>
          </a:p>
          <a:p>
            <a:pPr>
              <a:defRPr sz="1200">
                <a:solidFill>
                  <a:srgbClr val="8CDCFF"/>
                </a:solidFill>
                <a:latin typeface="Courier New"/>
              </a:defRPr>
            </a:pPr>
            <a:r>
              <a:t>func TestAdd(t *testing.T){ cases := []struct{a,b,exp int}{ {1,2,3} }; for _,c:=range cases{ if got:=Add(c.a,c.b); got!=c.exp{ t.Errorf("fail") } } 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B478FF"/>
                </a:solidFill>
              </a:defRPr>
            </a:pPr>
            <a:r>
              <a:t>Integrate `go test -race` and `go vet` in CI; collect pprof data in staging for performance tuning.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6E6E6"/>
                </a:solidFill>
              </a:defRPr>
            </a:pPr>
            <a:r>
              <a:t>Exercise — Table-driven test (2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Task: Write a table-driven test for a Sum function with 3 cases.</a:t>
            </a:r>
          </a:p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Goal: practice testing idioms.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097280"/>
            <a:ext cx="3291840" cy="5029200"/>
          </a:xfrm>
          <a:prstGeom prst="rect">
            <a:avLst/>
          </a:prstGeom>
          <a:solidFill>
            <a:srgbClr val="1E2228"/>
          </a:solidFill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8CDCFF"/>
                </a:solidFill>
                <a:latin typeface="Courier New"/>
              </a:defRPr>
            </a:pPr>
            <a:r>
              <a:t>func TestSum(t *testing.T){ cases:=[]struct{in []int; want int}{ {[]int{1,2},3} }; for _,c:=range cases{ if got:=Sum(c.in); got!=c.want{ t.Fatalf("want %d, got %d",c.want,got) } } 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B478FF"/>
                </a:solidFill>
              </a:defRPr>
            </a:pPr>
            <a:r>
              <a:t>Keep tests clear and fast; avoid network calls in unit tests.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6E6E6"/>
                </a:solidFill>
              </a:defRPr>
            </a:pPr>
            <a:r>
              <a:t>Section 6 Summary — Tooling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Use modules for dependency management; pin versions for reproducible builds.</a:t>
            </a:r>
          </a:p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Write fast, table-driven tests. Use benchmarks for hot paths.</a:t>
            </a:r>
          </a:p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Profile CPU and memory with pprof; keep race detector in CI.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B478FF"/>
                </a:solidFill>
              </a:defRPr>
            </a:pPr>
            <a:r>
              <a:t>Tooling is critical for maintainability—automate tests and static checks.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6E6E6"/>
                </a:solidFill>
              </a:defRPr>
            </a:pPr>
            <a:r>
              <a:t>Section 7 — Web, Networking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net/http provides a solid standard library for servers; frameworks add routing/helpers but increase dependencies.</a:t>
            </a:r>
          </a:p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Context.Context: pass it for request-scoped cancellation and deadlines.</a:t>
            </a:r>
          </a:p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Graceful shutdown: use server.Shutdown(ctx) to stop accepting and finish inflight requests.</a:t>
            </a:r>
          </a:p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Security: validate inputs, avoid storing secrets in code, use TLS with Let’s Encrypt/ACME.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097280"/>
            <a:ext cx="3291840" cy="5029200"/>
          </a:xfrm>
          <a:prstGeom prst="rect">
            <a:avLst/>
          </a:prstGeom>
          <a:solidFill>
            <a:srgbClr val="1E2228"/>
          </a:solidFill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8CDCFF"/>
                </a:solidFill>
                <a:latin typeface="Courier New"/>
              </a:defRPr>
            </a:pPr>
            <a:r>
              <a:t>srv := &amp;http.Server{Addr":":8080", Handler: mux}</a:t>
            </a:r>
          </a:p>
          <a:p>
            <a:pPr>
              <a:defRPr sz="1200">
                <a:solidFill>
                  <a:srgbClr val="8CDCFF"/>
                </a:solidFill>
                <a:latin typeface="Courier New"/>
              </a:defRPr>
            </a:pPr>
            <a:r>
              <a:t>ctx, cancel := context.WithTimeout(context.Background(),5*time.Second)</a:t>
            </a:r>
          </a:p>
          <a:p>
            <a:pPr>
              <a:defRPr sz="1200">
                <a:solidFill>
                  <a:srgbClr val="8CDCFF"/>
                </a:solidFill>
                <a:latin typeface="Courier New"/>
              </a:defRPr>
            </a:pPr>
            <a:r>
              <a:t>srv.Shutdown(ctx)</a:t>
            </a:r>
          </a:p>
          <a:p>
            <a:pPr>
              <a:defRPr sz="1200">
                <a:solidFill>
                  <a:srgbClr val="8CDCFF"/>
                </a:solidFill>
                <a:latin typeface="Courier New"/>
              </a:defRPr>
            </a:pPr>
            <a:r>
              <a:t>cancel()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B478FF"/>
                </a:solidFill>
              </a:defRPr>
            </a:pPr>
            <a:r>
              <a:t>Always propagate context to goroutines spawned from request handlers to enable cancellation.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6E6E6"/>
                </a:solidFill>
              </a:defRPr>
            </a:pPr>
            <a:r>
              <a:t>Exercise — Context cancellation (2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Task: Create a request handler that starts a goroutine doing work but respects `r.Context()` to exit early when client disconnects.</a:t>
            </a:r>
          </a:p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Goal: learn how to wire context into background work.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097280"/>
            <a:ext cx="3291840" cy="5029200"/>
          </a:xfrm>
          <a:prstGeom prst="rect">
            <a:avLst/>
          </a:prstGeom>
          <a:solidFill>
            <a:srgbClr val="1E2228"/>
          </a:solidFill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8CDCFF"/>
                </a:solidFill>
                <a:latin typeface="Courier New"/>
              </a:defRPr>
            </a:pPr>
            <a:r>
              <a:t>func h(w http.ResponseWriter,r *http.Request){ ctx:=r.Context(); go func(){ select{ case &lt;-time.After(10*time.Second): /*work*/; case &lt;-ctx.Done(): return } }(); w.Write([]byte("ok")) 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B478FF"/>
                </a:solidFill>
              </a:defRPr>
            </a:pPr>
            <a:r>
              <a:t>Important: don't leak goroutines—use ctx.Done() and ensure cleanup.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6E6E6"/>
                </a:solidFill>
              </a:defRPr>
            </a:pPr>
            <a:r>
              <a:t>Section 7 Summary — Web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Use Context for cancellation and timeouts.</a:t>
            </a:r>
            <a:br/>
            <a:r>
              <a:t>Graceful shutdown protects in-flight requests.</a:t>
            </a:r>
            <a:br/>
            <a:r>
              <a:t>Prefer stdlib + small dependencies for maintainability.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B478FF"/>
                </a:solidFill>
              </a:defRPr>
            </a:pPr>
            <a:r>
              <a:t>Keep network code resilient and observable (metrics, logs, traces).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6E6E6"/>
                </a:solidFill>
              </a:defRPr>
            </a:pPr>
            <a:r>
              <a:t>Answer Key — Quizzes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Quiz1: Q1=b, Q2=b</a:t>
            </a:r>
            <a:br/>
            <a:r>
              <a:t>Quiz2: Q1=b (array), Q2=b (escape analysis)</a:t>
            </a:r>
            <a:br/>
            <a:r>
              <a:t>Quiz3: Q1=b, Q2=a</a:t>
            </a:r>
            <a:br/>
            <a:r>
              <a:t>Quiz4: Q1=b, Q2=b</a:t>
            </a:r>
            <a:br/>
            <a:r>
              <a:t>Quiz5: Q1=c, Q2=b</a:t>
            </a:r>
          </a:p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Self-grading: For an 80% pass threshold, count total questions and ensure &gt;=80% correct.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B478FF"/>
                </a:solidFill>
              </a:defRPr>
            </a:pPr>
            <a:r>
              <a:t>Total questions: 10. To pass (80%) you need 8 correct answers.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6E6E6"/>
                </a:solidFill>
              </a:defRPr>
            </a:pPr>
            <a:r>
              <a:t>Further Resources &amp; Cheat Sheet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Official docs: golang.org/doc, effective go, go.dev/play</a:t>
            </a:r>
            <a:br/>
          </a:p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Profiling: pprof guide; Concurrency patterns by Rob Pike; Go Proverbs by Rob Pike.</a:t>
            </a:r>
          </a:p>
          <a:p>
            <a:pPr>
              <a:spcAft>
                <a:spcPts val="600"/>
              </a:spcAft>
              <a:defRPr sz="1800">
                <a:solidFill>
                  <a:srgbClr val="C8C8C8"/>
                </a:solidFill>
              </a:defRPr>
            </a:pPr>
            <a:r>
              <a:t>Cheat sheet: export rules, slice header, method set rules, context propagation, common `go` commands.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B478FF"/>
                </a:solidFill>
              </a:defRPr>
            </a:pPr>
            <a:r>
              <a:t>Use `go env`, `go vet`, `golangci-lint` and CI integration for robust workflows.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